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A2540"/>
                </a:solidFill>
              </a:defRPr>
            </a:pPr>
            <a:r>
              <a:t>Chargebacks and Disputes Program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2F5475"/>
                </a:solidFill>
              </a:defRPr>
            </a:pPr>
            <a:r>
              <a:t>Professional program package: P0 execution, P1 architecture, and metrics targets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3C495A"/>
                </a:solidFill>
              </a:defRPr>
            </a:pPr>
            <a:r>
              <a:t>Source: 2026-07-05-P0-implementation-backlog.md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(1/8)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P0 IMPLEMENTATION BACKLOG (1-2 WEEKS)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Goal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Ship an MVP that demonstrates Airbnb-scale chargeback and dispute product thinking: loss reduction, trust preservation, and policy-safe workflows.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Outcomes (P0)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End-to-end dispute lifecycle visible from ingestion through closure.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Policy-timed guardrails for Resolution Center and Host Damage Protection terms.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Decisioning support by reason code/payment method with explainable recommendations.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Table-first operational UX for Customer, Merchant, and Admin dashboards.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Workstreams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1. Case Lifecycle Engine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canonical lifecycle states: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(2/8)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- Chargeback Ingested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Representment Recommended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Representment Submitted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Pre-Arbitration Eligible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Pre-Arbitration Submitted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Final Decision (Won/Lost)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Recovery Pending (Airbnb -&gt; Guest paid, Merchant clawback pending)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Closed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transition validation map by payment method and reason code.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terminal-state lock rules and re-open exceptions.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2. Policy Rules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(3/8)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Resolution Center timers: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- 60-day request window from checkout.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- 72-hour discovery flag for refund/rebooking handling.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Host Damage Protection timers: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- 14-day host-to-guest pursuit requirement.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- 30-day host request submission window.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policy violation flags in case rows and expanded details.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explainers for ineligible requests and required remediation.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3. Reason Code Decisioning (v1)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reason-code playbook object with: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Recommended action (deflect/settle/represent).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(4/8)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- Required evidence checklist.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Optional evidence boosting win probability.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Expected win-rate bands by payment method.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per-case recommendation card/table with confidence and expected value.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4. Money Movement Ledger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normalized ledger events: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Debit/Credit with party, amount, currency, stage, source.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Show final closure path when Airbnb loses: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Airbnb credits guest first.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Merchant clawback/offset posted later.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Case closes after reconciliation.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(5/8)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Add running balances for Guest, Merchant, Airbnb in expanded case table.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5. Evidence UX (Actionable)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At each stage line item, allow attaching one or more docs.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“missing evidence” indicator and upload CTA by stage.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sample evidence preview in modal/table row details.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legitimacy flags (missing metadata, low-quality, unverifiable source).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6. Top-Risk KPI Strip (3-Party)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top cards for Airbnb, Merchant, Guest with: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Win probability (%)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Exposure at risk ($)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Suggested documents to improve odds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(6/8)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Add breakdown by reason code and payment method.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Technical Tasks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Introduce shared utility modules in JS (single source):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policyRules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reasonCodeRules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ledgerEngine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evidenceRequirements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localStorage schema versioning + migration function.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deterministic demo seed scenarios:3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Card representment win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Card representment loss + guest payout + merchant clawback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(7/8)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- Klarna auto-closure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UPI merchant-record-request pending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Validation / Acceptance Criteria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 case can traverse all lifecycle stages without manual JSON edits.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Policy deadline breaches are visibly flagged in all 3 dashboards.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Each expanded case shows table-based timeline + activity + ledger.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Evidence attachments can be added from each stage row.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Final-loss path shows Airbnb-to-guest payout and merchant clawback before close.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Demo Script (8-10 min)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1. Ingest chargeback case.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2. Show decisioning recommendation by reason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P0 Implementation Backlog (8/8)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3. Add missing evidence and improve win probability.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4. Simulate loss path: guest credit, merchant pullback, close.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5. Show KPI impact and policy compliance trace.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3C495A"/>
                </a:solidFill>
              </a:defRPr>
            </a:pPr>
            <a:r>
              <a:t>Source: 2026-07-05-P1-architecture-roadmap.md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(1/8)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P1 ARCHITECTURE ROADMAP (2-6 WEEKS)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Objective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Evolve from demo UI into scalable disputes platform architecture supporting new payment methods, geographies, and verticals.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Target Architecture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1. Domain Services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Dispute Lifecycle Service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Owns state machine and transition authorization.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Decisioning Service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Rule-based + ML score blending.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Outputs recommendation, confidence, and expected value.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Policy Compliance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(2/8)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- Encodes deadlines and eligibility constraints.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Provides deterministic pass/fail reasons.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Ledger Service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Immutable financial events + balance projections.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Evidence Service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Evidence package completeness scoring.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Metadata validation and anti-fraud checks.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2. Data Model (Core Entities)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dispute_case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dispute_stage_event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monetary_ledger_event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(3/8)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evidence_item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evidence_requirement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policy_evaluation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decision_recommendation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reason_code_rule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payment_method_rule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risk_snapshot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3. Decisioning Stack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Rules-first orchestration: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Hard policy constraints -&gt; eligibility gating.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Reason-code/payment-method playbook.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(4/8)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- ML risk/win scores as ranking/prioritization features.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explainability payload: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top_signals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missing_signals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confidence drivers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4. Eventing and Integrations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Processor webhook ingestion boundary.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Event bus for stage, evidence, and ledger updates.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Retry-safe idempotency keys for chargeback events.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Audit trail for policy-sensitive actions.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5. UX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(5/8)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One shared case-expansion renderer with table sections: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Case Summary Table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Timeline Activity Table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Payment/Ledger Table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Evidence Package Table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Role overlays only (Customer/Merchant/Admin permissions), not separate logic forks.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Security and Integrity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Fraud-resistance checks for doctored evidence and inconsistent metadata.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Role-based permissioning for sensitive actions.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Immutable financial event append-only model.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SLA monitoring for response windows.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(6/8)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Observability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Lifecycle funnel metrics: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Ingested -&gt; Deflected -&gt; Represented -&gt; Pre-Arb -&gt; Closed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Win/loss by reason code, processor, payment method, region.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Alerting: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deadline at-risk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failed clawback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- high-loss clusters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Rollout Plan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Phase 1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Introduce shared domain modules behind existing UI.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(7/8)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Add schema version and migration support.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Phase 2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Move lifecycle + policy logic to service abstraction.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Introduce immutable ledger events and reconciliation checks.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Phase 3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Plug in score providers (ML + external risk vendors).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Add experiment framework for deflection and outreach variants.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Success Criteria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0 ambiguous stage transitions.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100% explainable recommendations for operator actions.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Reduced manual intervention in evidence collection.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P1 Architecture Roadmap (8/8)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Lower net loss rate with stable trust and satisfaction indicators.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Metrics and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3C495A"/>
                </a:solidFill>
              </a:defRPr>
            </a:pPr>
            <a:r>
              <a:t>Source: 2026-07-05-metrics-results-slide.md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Metrics and Results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METRICS AND RESULTS SLIDE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Title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Building a Holistic Disputes Platform: Loss Reduction + Trust Preservation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Problem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Chargeback operations were fragmented across lifecycle stages and payment methods.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Evidence quality and policy timing mismatches caused avoidable losses.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Limited proactive dispute deflection before escalation.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Product Bet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Unified dispute lifecycle across ingestion, representment, pre-arb, and recovery.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Reason-code/payment-method decisioning with policy-aware controls.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Evidence completeness and financial ledger transparency in one operator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Metrics and Results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North-Star Impact (Target)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Net chargeback loss rate: down 15-25%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Representment win rate: up 8-12 pts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Pre-arbitration coverage: up 20-30 pts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Dispute deflection before chargeback: up 10-18%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Median time to resolution: down 20-30%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Guardrail Metrics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Guest attrition risk: no material increase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Host satisfaction for resolved disputes: improve or hold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Policy exception rate: down 30%+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Manual review rate on complete evidence packages: down 25%+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Metrics and Results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Segmentation Views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By reason code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By payment method (Card, Klarna, UPI)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By processor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By geography and product vertical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Example Outcome Narrative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Introduced reason-code and payment-method decisioning + missing-evidence prompts.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Improved evidence package completeness before representment submission.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Reduced avoidable losses while preserving balanced outcomes for hosts and guests.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Slide Footer (Execution)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Built cross-functionally with Eng, DS, Ops, Trust, and Support.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Metrics and Results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52D4A"/>
                </a:solidFill>
              </a:defRPr>
            </a:pPr>
            <a:r>
              <a:t>• Rolled out in staged experiments with clear kill-switches and policy controls.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A2540"/>
                </a:solidFill>
              </a:defRPr>
            </a:pPr>
            <a:r>
              <a:t>Visual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>
                <a:solidFill>
                  <a:srgbClr val="3C495A"/>
                </a:solidFill>
              </a:defRPr>
            </a:pPr>
            <a:r>
              <a:t>Operational evidence from customer, merchant, admin, and workflow views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A2540"/>
                </a:solidFill>
              </a:defRPr>
            </a:pPr>
            <a:r>
              <a:t>Agentic Workflow Diagram: early-dispute detection and classification flow</a:t>
            </a:r>
          </a:p>
        </p:txBody>
      </p:sp>
      <p:pic>
        <p:nvPicPr>
          <p:cNvPr id="4" name="Picture 3" descr="01_agentic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A2540"/>
                </a:solidFill>
              </a:defRPr>
            </a:pPr>
            <a:r>
              <a:t>Agent Loop Workflow: LLM planning, tools, and policy gate controls</a:t>
            </a:r>
          </a:p>
        </p:txBody>
      </p:sp>
      <p:pic>
        <p:nvPicPr>
          <p:cNvPr id="4" name="Picture 3" descr="02_agent_loop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A2540"/>
                </a:solidFill>
              </a:defRPr>
            </a:pPr>
            <a:r>
              <a:t>Merchant Risk Dashboard: operations queue, evidence intake, and actions</a:t>
            </a:r>
          </a:p>
        </p:txBody>
      </p:sp>
      <p:pic>
        <p:nvPicPr>
          <p:cNvPr id="4" name="Picture 3" descr="03_merchant_ris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A2540"/>
                </a:solidFill>
              </a:defRPr>
            </a:pPr>
            <a:r>
              <a:t>Customer Expanded Case: AI summary, money movement, and lifecycle reference</a:t>
            </a:r>
          </a:p>
        </p:txBody>
      </p:sp>
      <p:pic>
        <p:nvPicPr>
          <p:cNvPr id="4" name="Picture 3" descr="04_customer_expanded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A2540"/>
                </a:solidFill>
              </a:defRPr>
            </a:pPr>
            <a:r>
              <a:t>Merchant Expanded Case: recommendation-led investigation and evidence trace</a:t>
            </a:r>
          </a:p>
        </p:txBody>
      </p:sp>
      <p:pic>
        <p:nvPicPr>
          <p:cNvPr id="4" name="Picture 3" descr="05_merchant_expanded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A2540"/>
                </a:solidFill>
              </a:defRPr>
            </a:pPr>
            <a:r>
              <a:t>Admin Expanded Case: intervention queue, settlement view, and lifecycle controls</a:t>
            </a:r>
          </a:p>
        </p:txBody>
      </p:sp>
      <p:pic>
        <p:nvPicPr>
          <p:cNvPr id="4" name="Picture 3" descr="06_admin_expanded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